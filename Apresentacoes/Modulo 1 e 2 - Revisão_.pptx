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F3CC57-046F-41C0-A912-424C9F6BD74D}">
  <a:tblStyle styleId="{5AF3CC57-046F-41C0-A912-424C9F6BD74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4aa7a951d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4aa7a951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dd22b4a29_0_2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dd22b4a2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4aa7a951d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4aa7a95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4aa7a951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4aa7a951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4aa7a951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4aa7a951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180"/>
              <a:t>“Medir o progresso da programação por linhas de código é como medir o progresso da construção de aeronaves em termos de peso.”</a:t>
            </a:r>
            <a:endParaRPr sz="31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Bill Gates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 de profiss</a:t>
            </a:r>
            <a:r>
              <a:rPr lang="pt-BR"/>
              <a:t>ões de dados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suas responsabilidades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Analista de Dados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Engenheiro de dados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Cientista de dados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/>
              <a:t>O Foco: Negócio, KPIs (indicadores) e visualização (Passado e Presente).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/>
              <a:t>A Pergunta: "Por que as vendas caíram mês passado?" ou "Qual perfil de cliente mais compra?"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/>
              <a:t>O Dia a Dia: Criar dashboards, relatórios focados ee responder perguntas de negócio. É o "Detetive".</a:t>
            </a:r>
            <a:endParaRPr sz="1700"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Analista</a:t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/>
              <a:t>O Foco: Infraestrutura, pipeline e disponibilidade.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/>
              <a:t>A Pergunta: "Como faço para mover terabytes de dados do Banco A para o Banco B sem falhar e de forma rápida?"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/>
              <a:t>O Dia a Dia: Constrói "encanamentos" (pipelines) que pegam dados brutos, limpam e salvam em um Data Warehouse.</a:t>
            </a:r>
            <a:endParaRPr sz="1700"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Engenheiro</a:t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/>
              <a:t>O Foco: Previsão e Modelagem Matemática (Futuro).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/>
              <a:t>A Pergunta: "Baseado no histórico, quanto venderemos em 2026?" ou "Este cliente é uma fraude?"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/>
              <a:t>O Dia a Dia: Treina modelos de Machine Learning e usa estatística avançada.</a:t>
            </a:r>
            <a:endParaRPr sz="1700"/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Cientista</a:t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Vibecoding?</a:t>
            </a:r>
            <a:endParaRPr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</a:t>
            </a:r>
            <a:r>
              <a:rPr lang="pt-BR"/>
              <a:t>édia salarial Brasil</a:t>
            </a:r>
            <a:endParaRPr/>
          </a:p>
        </p:txBody>
      </p:sp>
      <p:graphicFrame>
        <p:nvGraphicFramePr>
          <p:cNvPr id="96" name="Google Shape;96;p19"/>
          <p:cNvGraphicFramePr/>
          <p:nvPr/>
        </p:nvGraphicFramePr>
        <p:xfrm>
          <a:off x="1041213" y="14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{5AF3CC57-046F-41C0-A912-424C9F6BD74D}</a:tableStyleId>
              </a:tblPr>
              <a:tblGrid>
                <a:gridCol w="1845525"/>
                <a:gridCol w="1651250"/>
                <a:gridCol w="1738675"/>
                <a:gridCol w="1826100"/>
              </a:tblGrid>
              <a:tr h="57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Cargo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Júnior (0-2 anos)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Pleno (3-5 anos)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Sênior (5+ anos)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7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Analista de Dados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R$ 3.500 - R$ 5.500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R$ 6.000 - R$ 9.000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R$ 10.000 - R$ 15.000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7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Cientista de Dados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R$ 5.000 - R$ 7.500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R$ 8.500 - R$ 13.000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R$ 15.000 - R$ 22.000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7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Engenheiro de Dados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R$ 5.500 - R$ 8.000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R$ 9.500 - R$ 14.500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R$ 16.000 - R$ 25.000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Review</a:t>
            </a:r>
            <a:r>
              <a:rPr lang="pt-BR"/>
              <a:t> coding</a:t>
            </a:r>
            <a:endParaRPr/>
          </a:p>
        </p:txBody>
      </p:sp>
      <p:sp>
        <p:nvSpPr>
          <p:cNvPr id="102" name="Google Shape;102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projeto final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</a:t>
            </a:r>
            <a:r>
              <a:rPr lang="pt-BR"/>
              <a:t>óxima aula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50" y="466450"/>
            <a:ext cx="3190875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1575" y="3134850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7150" y="391575"/>
            <a:ext cx="4029600" cy="13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