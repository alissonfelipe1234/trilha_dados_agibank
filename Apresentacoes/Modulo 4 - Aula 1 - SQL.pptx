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dd22b4a29_0_15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dd22b4a2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5936372a_0_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5936372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65936372a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65936372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dd22b4a29_0_28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dd22b4a29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5936372a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5936372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65936372a_0_4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65936372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65936372a_0_6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65936372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65936372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65936372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65936372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65936372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65936372a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65936372a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65936372a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65936372a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65936372a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65936372a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65936372a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65936372a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dd22b4a29_0_2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dd22b4a29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c6f9e470d_0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c6f9e470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hyperlink" Target="https://www.seas.upenn.edu/~zives/03f/cis550/codd.pdf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Sql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python e sqlite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SQL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</a:t>
            </a:r>
            <a:r>
              <a:rPr lang="pt-BR"/>
              <a:t>é?</a:t>
            </a:r>
            <a:endParaRPr/>
          </a:p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SQL (Structured Query Language) é uma linguagem padrão para gerenciar e manipular dados em bancos de dados relacionais</a:t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265500" y="293875"/>
            <a:ext cx="8802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Teoria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Banco de dados</a:t>
            </a:r>
            <a:endParaRPr/>
          </a:p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é?</a:t>
            </a:r>
            <a:endParaRPr/>
          </a:p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Um banco de dados é uma coleção organizada de informações estruturadas, normalmente armazenadas eletronicamente em um sistema de computador.</a:t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500" y="293875"/>
            <a:ext cx="8802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Teoria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Relacional </a:t>
            </a:r>
            <a:endParaRPr/>
          </a:p>
        </p:txBody>
      </p:sp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é?</a:t>
            </a:r>
            <a:endParaRPr/>
          </a:p>
        </p:txBody>
      </p:sp>
      <p:sp>
        <p:nvSpPr>
          <p:cNvPr id="78" name="Google Shape;78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S</a:t>
            </a:r>
            <a:r>
              <a:rPr lang="pt-BR"/>
              <a:t>ão um tipo de banco de dados que armazena e organiza pontos de dados com relacionamentos definidos.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Com base na álgebra relacional, a SQL fornece uma linguagem matemática internamente que facilita a melhoria do desempenho de todas as consultas.</a:t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500" y="293875"/>
            <a:ext cx="8802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Teoria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Captura de Tela 2026-01-12 às 10.47.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7125" y="606250"/>
            <a:ext cx="5529726" cy="54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/>
        </p:nvSpPr>
        <p:spPr>
          <a:xfrm>
            <a:off x="7734800" y="4547025"/>
            <a:ext cx="122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fonte: </a:t>
            </a:r>
            <a:r>
              <a:rPr lang="pt-BR" u="sng">
                <a:solidFill>
                  <a:schemeClr val="hlink"/>
                </a:solidFill>
                <a:hlinkClick r:id="rId4"/>
              </a:rPr>
              <a:t>artigo</a:t>
            </a:r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1807125" y="2060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Edgar Frank Codd</a:t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500" y="293875"/>
            <a:ext cx="8802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Teoria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SGBD</a:t>
            </a:r>
            <a:endParaRPr/>
          </a:p>
        </p:txBody>
      </p:sp>
      <p:sp>
        <p:nvSpPr>
          <p:cNvPr id="93" name="Google Shape;93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Oracle DB, Microsoft server, Mysql, mongoDB, SQLite</a:t>
            </a:r>
            <a:endParaRPr/>
          </a:p>
        </p:txBody>
      </p:sp>
      <p:sp>
        <p:nvSpPr>
          <p:cNvPr id="94" name="Google Shape;94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Sistema de gerenciamento de banco de dados. (DBMS)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É um conjunto de software utilizado para o gerenciamento de uma base de dados, responsáveis por controlar, acessar, organizar e proteger as informações de uma aplicação</a:t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500" y="293875"/>
            <a:ext cx="8802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Real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SGBDR</a:t>
            </a:r>
            <a:endParaRPr/>
          </a:p>
        </p:txBody>
      </p:sp>
      <p:sp>
        <p:nvSpPr>
          <p:cNvPr id="101" name="Google Shape;10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Oracle DB, Microsoft server, Mysql, </a:t>
            </a:r>
            <a:r>
              <a:rPr lang="pt-BR" strike="sngStrike"/>
              <a:t>mongoDB</a:t>
            </a:r>
            <a:r>
              <a:rPr lang="pt-BR"/>
              <a:t>, SQLite, PostgreSQL</a:t>
            </a:r>
            <a:endParaRPr/>
          </a:p>
        </p:txBody>
      </p:sp>
      <p:sp>
        <p:nvSpPr>
          <p:cNvPr id="102" name="Google Shape;10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Sistema de gerenciamento de banco de dados relacional. (</a:t>
            </a:r>
            <a:r>
              <a:rPr lang="pt-BR"/>
              <a:t>RDBMS</a:t>
            </a:r>
            <a:r>
              <a:rPr lang="pt-BR"/>
              <a:t>)</a:t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500" y="293875"/>
            <a:ext cx="8802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Real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Anatomia do Relacional</a:t>
            </a:r>
            <a:endParaRPr/>
          </a:p>
        </p:txBody>
      </p:sp>
      <p:sp>
        <p:nvSpPr>
          <p:cNvPr id="109" name="Google Shape;109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sql</a:t>
            </a:r>
            <a:endParaRPr/>
          </a:p>
        </p:txBody>
      </p:sp>
      <p:sp>
        <p:nvSpPr>
          <p:cNvPr id="110" name="Google Shape;110;p20"/>
          <p:cNvSpPr txBox="1"/>
          <p:nvPr>
            <p:ph idx="2" type="body"/>
          </p:nvPr>
        </p:nvSpPr>
        <p:spPr>
          <a:xfrm>
            <a:off x="4939500" y="724075"/>
            <a:ext cx="40452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Banco</a:t>
            </a:r>
            <a:r>
              <a:rPr lang="pt-BR"/>
              <a:t> (Database): O arquivo - sistema inteiro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Esquema</a:t>
            </a:r>
            <a:r>
              <a:rPr lang="pt-BR"/>
              <a:t> (Schema): Pastas organizadoras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Tabela</a:t>
            </a:r>
            <a:r>
              <a:rPr lang="pt-BR"/>
              <a:t> (Table): Planilha Excel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Coluna</a:t>
            </a:r>
            <a:r>
              <a:rPr lang="pt-BR"/>
              <a:t> (Column): O tipo de dado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/>
              <a:t>Linha</a:t>
            </a:r>
            <a:r>
              <a:rPr lang="pt-BR"/>
              <a:t> (Row): Um registro único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Tipo de dados SQL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Numéricos</a:t>
            </a:r>
            <a:endParaRPr/>
          </a:p>
        </p:txBody>
      </p:sp>
      <p:sp>
        <p:nvSpPr>
          <p:cNvPr id="121" name="Google Shape;121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INT/INTEGER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BIGINT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DECIMAL/NUMERIC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FLOAT/DOUBLE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TINYINT/SMALLINT/MEDIUMINT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Texto (String)</a:t>
            </a:r>
            <a:endParaRPr/>
          </a:p>
        </p:txBody>
      </p:sp>
      <p:sp>
        <p:nvSpPr>
          <p:cNvPr id="128" name="Google Shape;128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CHAR(N)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VARCHAR(N)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TEXT/MEDIUMTEXT/LONGTEXT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Data e Hora</a:t>
            </a:r>
            <a:endParaRPr/>
          </a:p>
        </p:txBody>
      </p:sp>
      <p:sp>
        <p:nvSpPr>
          <p:cNvPr id="135" name="Google Shape;135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DATE: Apenas data (AAAA-MM-DD).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TIME: Apenas hora (HH:MM:SS).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DATETIME: Data e hora (AAAA-MM-DD HH:MM:SS).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TIMESTAMP: Similar ao DATETIME, armazena momento de inserção/atualização, com intervalo UTC.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YEAR: Apenas o ano.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Outros</a:t>
            </a:r>
            <a:endParaRPr/>
          </a:p>
        </p:txBody>
      </p:sp>
      <p:sp>
        <p:nvSpPr>
          <p:cNvPr id="142" name="Google Shape;142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JSON: Para armazenar documentos JSON.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BIT: Tipo de dado para bits.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Tipos Espaciais/Binários: Para dados geográficos e binários.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SQLite</a:t>
            </a:r>
            <a:endParaRPr/>
          </a:p>
        </p:txBody>
      </p:sp>
      <p:sp>
        <p:nvSpPr>
          <p:cNvPr id="149" name="Google Shape;149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NULL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INTEGER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REAL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TEXT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BLOB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Comandos</a:t>
            </a:r>
            <a:endParaRPr/>
          </a:p>
        </p:txBody>
      </p:sp>
      <p:sp>
        <p:nvSpPr>
          <p:cNvPr id="156" name="Google Shape;156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sql</a:t>
            </a:r>
            <a:endParaRPr/>
          </a:p>
        </p:txBody>
      </p:sp>
      <p:sp>
        <p:nvSpPr>
          <p:cNvPr id="157" name="Google Shape;157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1"/>
                </a:solidFill>
              </a:rPr>
              <a:t>SELECT (algo) 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1"/>
                </a:solidFill>
              </a:rPr>
              <a:t>FROM (tabela) 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WHERE (condição)</a:t>
            </a:r>
            <a:endParaRPr sz="2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Pair coding</a:t>
            </a:r>
            <a:endParaRPr/>
          </a:p>
        </p:txBody>
      </p:sp>
      <p:sp>
        <p:nvSpPr>
          <p:cNvPr id="163" name="Google Shape;163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