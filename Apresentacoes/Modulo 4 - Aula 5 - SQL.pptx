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dd22b4a29_0_15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dd22b4a29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71f73f52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71f73f52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7f742a94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7f742a94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7f742a94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7f742a94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7f742a94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7f742a94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7f742a94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7f742a94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71f73f528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71f73f528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7f742a94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7f742a94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7f742a94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7f742a94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7f742a94d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7f742a94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7f742a94d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7f742a94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71f73f528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71f73f528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71f73f528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71f73f528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7f742a94d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7f742a94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7f742a94d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b7f742a94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7f742a94d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7f742a94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7f742a94d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b7f742a94d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Comando Join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Join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100">
                <a:solidFill>
                  <a:schemeClr val="dk1"/>
                </a:solidFill>
              </a:rPr>
              <a:t>Unir tabelas, e usar relacionamentos em consultas SQL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265500" y="293875"/>
            <a:ext cx="880200" cy="4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Teoria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Join</a:t>
            </a:r>
            <a:endParaRPr/>
          </a:p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Não importa o banco</a:t>
            </a:r>
            <a:br>
              <a:rPr lang="pt-BR"/>
            </a:br>
            <a:r>
              <a:rPr lang="pt-BR"/>
              <a:t>(Oracle, Trino, SQLite)</a:t>
            </a:r>
            <a:br>
              <a:rPr lang="pt-BR"/>
            </a:br>
            <a:r>
              <a:rPr lang="pt-BR"/>
              <a:t> a estrutura é a mesma:</a:t>
            </a:r>
            <a:endParaRPr/>
          </a:p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4939500" y="724075"/>
            <a:ext cx="40452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chemeClr val="dk1"/>
                </a:solidFill>
              </a:rPr>
              <a:t>SELECT </a:t>
            </a:r>
            <a:br>
              <a:rPr lang="pt-BR" sz="2100">
                <a:solidFill>
                  <a:schemeClr val="dk1"/>
                </a:solidFill>
              </a:rPr>
            </a:br>
            <a:r>
              <a:rPr lang="pt-BR" sz="2100">
                <a:solidFill>
                  <a:schemeClr val="dk1"/>
                </a:solidFill>
              </a:rPr>
              <a:t>cliente</a:t>
            </a:r>
            <a:r>
              <a:rPr lang="pt-BR" sz="2100">
                <a:solidFill>
                  <a:schemeClr val="dk1"/>
                </a:solidFill>
              </a:rPr>
              <a:t>.nome AS cliente_nome, </a:t>
            </a:r>
            <a:br>
              <a:rPr lang="pt-BR" sz="2100">
                <a:solidFill>
                  <a:schemeClr val="dk1"/>
                </a:solidFill>
              </a:rPr>
            </a:br>
            <a:r>
              <a:rPr lang="pt-BR" sz="2100">
                <a:solidFill>
                  <a:schemeClr val="dk1"/>
                </a:solidFill>
              </a:rPr>
              <a:t>cidade.nome AS cidade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100">
                <a:solidFill>
                  <a:schemeClr val="dk1"/>
                </a:solidFill>
              </a:rPr>
              <a:t>FROM cliente</a:t>
            </a:r>
            <a:br>
              <a:rPr lang="pt-BR" sz="2100">
                <a:solidFill>
                  <a:schemeClr val="dk1"/>
                </a:solidFill>
              </a:rPr>
            </a:br>
            <a:r>
              <a:rPr lang="pt-BR" sz="2100">
                <a:solidFill>
                  <a:schemeClr val="dk1"/>
                </a:solidFill>
              </a:rPr>
              <a:t>[tipo join] JOIN cidade</a:t>
            </a:r>
            <a:br>
              <a:rPr lang="pt-BR" sz="2100">
                <a:solidFill>
                  <a:schemeClr val="dk1"/>
                </a:solidFill>
              </a:rPr>
            </a:br>
            <a:r>
              <a:rPr lang="pt-BR" sz="2100">
                <a:solidFill>
                  <a:schemeClr val="dk1"/>
                </a:solidFill>
              </a:rPr>
              <a:t>ON </a:t>
            </a:r>
            <a:br>
              <a:rPr lang="pt-BR" sz="2100">
                <a:solidFill>
                  <a:schemeClr val="dk1"/>
                </a:solidFill>
              </a:rPr>
            </a:br>
            <a:r>
              <a:rPr lang="pt-BR" sz="2100">
                <a:solidFill>
                  <a:schemeClr val="dk1"/>
                </a:solidFill>
              </a:rPr>
              <a:t>cliente.cidade_id = cidade.id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INNER JOIN (A Interseção):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O que faz:</a:t>
            </a:r>
            <a:r>
              <a:rPr lang="pt-BR"/>
              <a:t> Traz apenas as linhas que têm correspondência nas duas tabelas.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/>
              <a:t>Segurança:</a:t>
            </a:r>
            <a:r>
              <a:rPr lang="pt-BR"/>
              <a:t> É o JOIN mais restritivo e seguro para análises financeiras fechadas.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LEFT JOIN (A Prioridade da Esquerda):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O que faz:</a:t>
            </a:r>
            <a:r>
              <a:rPr lang="pt-BR"/>
              <a:t> Traz tudo da primeira tabela (Esquerda) e cruza com a segunda. Se não achar correspondência, preenche com NULL.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/>
              <a:t>Insight de Negócio:</a:t>
            </a:r>
            <a:r>
              <a:rPr lang="pt-BR"/>
              <a:t> É essencial para achar "buracos". Ex: "Quais produtos nunca foram vendidos?" (Faz um Left Join de Produtos com Vendas e filtra onde Vendas é NULL).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RIGHT JOIN (A Prioridade da Direita):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O que faz:</a:t>
            </a:r>
            <a:r>
              <a:rPr lang="pt-BR"/>
              <a:t> O inverso do LEFT.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/>
              <a:t>Prática: </a:t>
            </a:r>
            <a:r>
              <a:rPr lang="pt-BR"/>
              <a:t>Pouco usado no dia a dia.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FULL OUTER JOIN (Tudo):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O que faz: </a:t>
            </a:r>
            <a:r>
              <a:rPr lang="pt-BR"/>
              <a:t>Traz tudo de A e tudo de B. Se der match, junta. </a:t>
            </a:r>
            <a:br>
              <a:rPr lang="pt-BR"/>
            </a:br>
            <a:r>
              <a:rPr lang="pt-BR"/>
              <a:t>Se não der, traz NULL do outro lado.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/>
              <a:t>Cenário:</a:t>
            </a:r>
            <a:r>
              <a:rPr lang="pt-BR"/>
              <a:t> Auditoria de sistemas. Comparar duas listas de usuários de sistemas diferentes para ver quem está em um, no outro, ou em ambos.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Fun</a:t>
            </a:r>
            <a:r>
              <a:rPr lang="pt-BR"/>
              <a:t>ções de agregação</a:t>
            </a:r>
            <a:endParaRPr/>
          </a:p>
        </p:txBody>
      </p:sp>
      <p:sp>
        <p:nvSpPr>
          <p:cNvPr id="100" name="Google Shape;100;p2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COUNT(*): Conta linhas físicas. "Quantos registros existem?"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COUNT(coluna): Conta valores válidos (não nulos). "Quantos clientes têm telefone cadastrado?"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SUM: Somatória. Cuidado: Se houver um NULL na coluna, o SQL ignora ele (trata como nada).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01" name="Google Shape;101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uso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Funções de agregação</a:t>
            </a:r>
            <a:endParaRPr/>
          </a:p>
        </p:txBody>
      </p:sp>
      <p:sp>
        <p:nvSpPr>
          <p:cNvPr id="107" name="Google Shape;107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AVG (Média): Retorna a média de X elementos.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MIN / MAX: Funcionam para números, datas (mais antigo/recente) e texto (ordem alfabética).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08" name="Google Shape;108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uso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GROUP BY</a:t>
            </a:r>
            <a:endParaRPr b="1"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/>
              <a:t>SELECT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/>
              <a:t>    coluna_agrupadora,                             -- 1. A etiqueta do grupo (Ex: Vendedor)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/>
              <a:t>    </a:t>
            </a:r>
            <a:r>
              <a:rPr b="1" lang="pt-BR"/>
              <a:t>FUNCAO_AGREGACAO</a:t>
            </a:r>
            <a:r>
              <a:rPr lang="pt-BR"/>
              <a:t>(coluna_B)   -- 2. O cálculo (Ex: Soma das Vendas)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/>
              <a:t>FROM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/>
              <a:t>    tabela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/>
              <a:t>WHERE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/>
              <a:t>    condicao_filtro                                       -- 3. Filtra linhas ANTES de agrupar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pt-BR"/>
              <a:t>GROUP BY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    </a:t>
            </a:r>
            <a:r>
              <a:rPr b="1" lang="pt-BR"/>
              <a:t>coluna_agrupadora</a:t>
            </a:r>
            <a:r>
              <a:rPr lang="pt-BR"/>
              <a:t>;                              -- 4. Define como agrupar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Exemplos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Correto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SELECT departamento, SUM(salario)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FROM funcionarios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GROUP BY departamento;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</a:t>
            </a:r>
            <a:r>
              <a:rPr b="1" lang="pt-BR">
                <a:solidFill>
                  <a:srgbClr val="980000"/>
                </a:solidFill>
              </a:rPr>
              <a:t>Errado</a:t>
            </a:r>
            <a:endParaRPr b="1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SELECT departamento, nome, SUM(salario)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FROM funcionarios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GROUP BY departamento;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Exemplos</a:t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Correto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SELECT departamento, SUM(salario)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FROM funcionarios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GROUP BY departamento;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</a:t>
            </a:r>
            <a:r>
              <a:rPr b="1" lang="pt-BR">
                <a:solidFill>
                  <a:srgbClr val="38761D"/>
                </a:solidFill>
              </a:rPr>
              <a:t>Corrigido</a:t>
            </a:r>
            <a:endParaRPr b="1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SELECT departamento, </a:t>
            </a:r>
            <a:r>
              <a:rPr b="1" lang="pt-BR"/>
              <a:t>nome</a:t>
            </a:r>
            <a:r>
              <a:rPr lang="pt-BR"/>
              <a:t>, SUM(salario)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FROM funcionarios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GROUP BY departamento, </a:t>
            </a:r>
            <a:r>
              <a:rPr b="1" lang="pt-BR"/>
              <a:t>nome</a:t>
            </a:r>
            <a:r>
              <a:rPr lang="pt-BR"/>
              <a:t>;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Group by</a:t>
            </a:r>
            <a:endParaRPr/>
          </a:p>
        </p:txBody>
      </p:sp>
      <p:sp>
        <p:nvSpPr>
          <p:cNvPr id="134" name="Google Shape;134;p2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SELECT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    estado,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    cidade,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    SUM(valor_venda) AS total_vendas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FROM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    vendas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GROUP BY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    estado,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pt-BR" sz="1600">
                <a:solidFill>
                  <a:schemeClr val="dk1"/>
                </a:solidFill>
              </a:rPr>
              <a:t>    cidade;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35" name="Google Shape;135;p2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múltiplo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HAVING</a:t>
            </a:r>
            <a:endParaRPr/>
          </a:p>
        </p:txBody>
      </p:sp>
      <p:sp>
        <p:nvSpPr>
          <p:cNvPr id="141" name="Google Shape;141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pt-BR" sz="1700">
                <a:solidFill>
                  <a:schemeClr val="dk1"/>
                </a:solidFill>
              </a:rPr>
              <a:t>Filtra o Grupo Agregado.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700">
                <a:solidFill>
                  <a:schemeClr val="dk1"/>
                </a:solidFill>
              </a:rPr>
              <a:t>Ex: "Mostrar apenas os vendedores que venderam mais de 1 milhão."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700">
                <a:solidFill>
                  <a:schemeClr val="dk1"/>
                </a:solidFill>
              </a:rPr>
              <a:t>(HAVING SUM(vendas) &gt; 1000000).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b="1" lang="pt-BR" sz="1700">
                <a:solidFill>
                  <a:schemeClr val="dk1"/>
                </a:solidFill>
              </a:rPr>
              <a:t>Lógica</a:t>
            </a:r>
            <a:r>
              <a:rPr lang="pt-BR" sz="1700">
                <a:solidFill>
                  <a:schemeClr val="dk1"/>
                </a:solidFill>
              </a:rPr>
              <a:t>: O banco não tem como saber se o João vendeu 1 milhão antes de somar todas as vendas dele. Por isso o WHERE não funcionaria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42" name="Google Shape;142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uso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HAVING</a:t>
            </a:r>
            <a:endParaRPr/>
          </a:p>
        </p:txBody>
      </p:sp>
      <p:sp>
        <p:nvSpPr>
          <p:cNvPr id="148" name="Google Shape;148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pt-BR" sz="1700">
                <a:solidFill>
                  <a:schemeClr val="dk1"/>
                </a:solidFill>
              </a:rPr>
              <a:t>SELECT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700">
                <a:solidFill>
                  <a:schemeClr val="dk1"/>
                </a:solidFill>
              </a:rPr>
              <a:t>    product_line,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700">
                <a:solidFill>
                  <a:schemeClr val="dk1"/>
                </a:solidFill>
              </a:rPr>
              <a:t>    AVG(unit_price) AS avg_price,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700">
                <a:solidFill>
                  <a:schemeClr val="dk1"/>
                </a:solidFill>
              </a:rPr>
              <a:t>    SUM(quantity) AS pieces,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700">
                <a:solidFill>
                  <a:schemeClr val="dk1"/>
                </a:solidFill>
              </a:rPr>
              <a:t>    SUM(total_price)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700">
                <a:solidFill>
                  <a:schemeClr val="dk1"/>
                </a:solidFill>
              </a:rPr>
              <a:t>FROM sales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700">
                <a:solidFill>
                  <a:schemeClr val="dk1"/>
                </a:solidFill>
              </a:rPr>
              <a:t>GROUP BY product_line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pt-BR" sz="1700">
                <a:solidFill>
                  <a:schemeClr val="dk1"/>
                </a:solidFill>
              </a:rPr>
              <a:t>HAVING</a:t>
            </a:r>
            <a:r>
              <a:rPr lang="pt-BR" sz="1700">
                <a:solidFill>
                  <a:schemeClr val="dk1"/>
                </a:solidFill>
              </a:rPr>
              <a:t> SUM(</a:t>
            </a:r>
            <a:r>
              <a:rPr lang="pt-BR" sz="1700">
                <a:solidFill>
                  <a:schemeClr val="dk1"/>
                </a:solidFill>
              </a:rPr>
              <a:t>total_price</a:t>
            </a:r>
            <a:r>
              <a:rPr lang="pt-BR" sz="1700">
                <a:solidFill>
                  <a:schemeClr val="dk1"/>
                </a:solidFill>
              </a:rPr>
              <a:t>) &gt; 40000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pt-BR" sz="1700">
                <a:solidFill>
                  <a:schemeClr val="dk1"/>
                </a:solidFill>
              </a:rPr>
              <a:t>ORDER BY total_gain DESC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49" name="Google Shape;149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uso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HAVING</a:t>
            </a:r>
            <a:endParaRPr/>
          </a:p>
        </p:txBody>
      </p:sp>
      <p:sp>
        <p:nvSpPr>
          <p:cNvPr id="155" name="Google Shape;155;p2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pt-BR" sz="1700">
                <a:solidFill>
                  <a:schemeClr val="dk1"/>
                </a:solidFill>
              </a:rPr>
              <a:t>SELECT 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700">
                <a:solidFill>
                  <a:schemeClr val="dk1"/>
                </a:solidFill>
              </a:rPr>
              <a:t>    product_line,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700">
                <a:solidFill>
                  <a:schemeClr val="dk1"/>
                </a:solidFill>
              </a:rPr>
              <a:t>    AVG(unit_price) AS avg_price,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700">
                <a:solidFill>
                  <a:schemeClr val="dk1"/>
                </a:solidFill>
              </a:rPr>
              <a:t>    SUM(quantity) AS pieces,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700">
                <a:solidFill>
                  <a:schemeClr val="dk1"/>
                </a:solidFill>
              </a:rPr>
              <a:t>    SUM(total_price) AS total_gain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700">
                <a:solidFill>
                  <a:schemeClr val="dk1"/>
                </a:solidFill>
              </a:rPr>
              <a:t>FROM sales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pt-BR" sz="1700">
                <a:solidFill>
                  <a:schemeClr val="dk1"/>
                </a:solidFill>
              </a:rPr>
              <a:t>GROUP BY product_line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pt-BR" sz="1700">
                <a:solidFill>
                  <a:schemeClr val="dk1"/>
                </a:solidFill>
              </a:rPr>
              <a:t>HAVING</a:t>
            </a:r>
            <a:r>
              <a:rPr lang="pt-BR" sz="1700">
                <a:solidFill>
                  <a:schemeClr val="dk1"/>
                </a:solidFill>
              </a:rPr>
              <a:t> </a:t>
            </a:r>
            <a:r>
              <a:rPr lang="pt-BR" sz="1700">
                <a:solidFill>
                  <a:schemeClr val="dk1"/>
                </a:solidFill>
              </a:rPr>
              <a:t>total_gain</a:t>
            </a:r>
            <a:r>
              <a:rPr lang="pt-BR" sz="1700">
                <a:solidFill>
                  <a:schemeClr val="dk1"/>
                </a:solidFill>
              </a:rPr>
              <a:t> &gt; 40000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pt-BR" sz="1700">
                <a:solidFill>
                  <a:schemeClr val="dk1"/>
                </a:solidFill>
              </a:rPr>
              <a:t>ORDER BY total_gain DESC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56" name="Google Shape;156;p2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uso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Ordem de Execução Lógica</a:t>
            </a:r>
            <a:endParaRPr/>
          </a:p>
        </p:txBody>
      </p:sp>
      <p:sp>
        <p:nvSpPr>
          <p:cNvPr id="162" name="Google Shape;16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dk1"/>
                </a:solidFill>
              </a:rPr>
              <a:t>SELECT  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dk1"/>
                </a:solidFill>
              </a:rPr>
              <a:t>FROM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dk1"/>
                </a:solidFill>
              </a:rPr>
              <a:t>JOIN 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dk1"/>
                </a:solidFill>
              </a:rPr>
              <a:t>WHERE 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dk1"/>
                </a:solidFill>
              </a:rPr>
              <a:t>GROUP BY -&gt; HAVING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1900">
                <a:solidFill>
                  <a:schemeClr val="dk1"/>
                </a:solidFill>
              </a:rPr>
              <a:t>ORDER BY</a:t>
            </a:r>
            <a:endParaRPr b="1" sz="2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Ordem que o Banco Executa (Máquina):</a:t>
            </a:r>
            <a:endParaRPr/>
          </a:p>
        </p:txBody>
      </p:sp>
      <p:sp>
        <p:nvSpPr>
          <p:cNvPr id="168" name="Google Shape;168;p30"/>
          <p:cNvSpPr txBox="1"/>
          <p:nvPr>
            <p:ph idx="1" type="body"/>
          </p:nvPr>
        </p:nvSpPr>
        <p:spPr>
          <a:xfrm>
            <a:off x="311700" y="919175"/>
            <a:ext cx="8520600" cy="36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-332538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pt-BR" sz="6547">
                <a:solidFill>
                  <a:schemeClr val="dk1"/>
                </a:solidFill>
              </a:rPr>
              <a:t>FROM / JOIN:</a:t>
            </a:r>
            <a:r>
              <a:rPr lang="pt-BR" sz="6547">
                <a:solidFill>
                  <a:schemeClr val="dk1"/>
                </a:solidFill>
              </a:rPr>
              <a:t> "Quais tabelas eu preciso carregar?" (Gera o produto Cartesiano ou Matches).</a:t>
            </a:r>
            <a:endParaRPr sz="6547">
              <a:solidFill>
                <a:schemeClr val="dk1"/>
              </a:solidFill>
            </a:endParaRPr>
          </a:p>
          <a:p>
            <a:pPr indent="-33253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pt-BR" sz="6547">
                <a:solidFill>
                  <a:schemeClr val="dk1"/>
                </a:solidFill>
              </a:rPr>
              <a:t>WHERE:</a:t>
            </a:r>
            <a:r>
              <a:rPr lang="pt-BR" sz="6547">
                <a:solidFill>
                  <a:schemeClr val="dk1"/>
                </a:solidFill>
              </a:rPr>
              <a:t> "Filtrar o desnecessário." (Remove linhas indesejadas antes de gastar CPU).</a:t>
            </a:r>
            <a:endParaRPr sz="6547">
              <a:solidFill>
                <a:schemeClr val="dk1"/>
              </a:solidFill>
            </a:endParaRPr>
          </a:p>
          <a:p>
            <a:pPr indent="-33253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pt-BR" sz="6547">
                <a:solidFill>
                  <a:schemeClr val="dk1"/>
                </a:solidFill>
              </a:rPr>
              <a:t>GROUP BY:</a:t>
            </a:r>
            <a:r>
              <a:rPr lang="pt-BR" sz="6547">
                <a:solidFill>
                  <a:schemeClr val="dk1"/>
                </a:solidFill>
              </a:rPr>
              <a:t> "Organizar em pilhas." (Agrega os dados).</a:t>
            </a:r>
            <a:endParaRPr sz="6547">
              <a:solidFill>
                <a:schemeClr val="dk1"/>
              </a:solidFill>
            </a:endParaRPr>
          </a:p>
          <a:p>
            <a:pPr indent="-33253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pt-BR" sz="6547">
                <a:solidFill>
                  <a:schemeClr val="dk1"/>
                </a:solidFill>
              </a:rPr>
              <a:t>HAVING:</a:t>
            </a:r>
            <a:r>
              <a:rPr lang="pt-BR" sz="6547">
                <a:solidFill>
                  <a:schemeClr val="dk1"/>
                </a:solidFill>
              </a:rPr>
              <a:t> "Jogar fora as pilhas ruins." (Filtrar baseado na soma/contagem).</a:t>
            </a:r>
            <a:endParaRPr sz="6547">
              <a:solidFill>
                <a:schemeClr val="dk1"/>
              </a:solidFill>
            </a:endParaRPr>
          </a:p>
          <a:p>
            <a:pPr indent="-33253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pt-BR" sz="6547">
                <a:solidFill>
                  <a:schemeClr val="dk1"/>
                </a:solidFill>
              </a:rPr>
              <a:t>SELECT:</a:t>
            </a:r>
            <a:r>
              <a:rPr lang="pt-BR" sz="6547">
                <a:solidFill>
                  <a:schemeClr val="dk1"/>
                </a:solidFill>
              </a:rPr>
              <a:t> "Calcular e Apelidar." (Só agora o banco calcula as colunas finais e aplica os apelidos/alias).</a:t>
            </a:r>
            <a:endParaRPr sz="6547">
              <a:solidFill>
                <a:schemeClr val="dk1"/>
              </a:solidFill>
            </a:endParaRPr>
          </a:p>
          <a:p>
            <a:pPr indent="-33253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pt-BR" sz="6547">
                <a:solidFill>
                  <a:schemeClr val="dk1"/>
                </a:solidFill>
              </a:rPr>
              <a:t>ORDER BY:</a:t>
            </a:r>
            <a:r>
              <a:rPr lang="pt-BR" sz="6547">
                <a:solidFill>
                  <a:schemeClr val="dk1"/>
                </a:solidFill>
              </a:rPr>
              <a:t> "Arrumar a casa." (Ordena o relatório final).</a:t>
            </a:r>
            <a:endParaRPr sz="6547">
              <a:solidFill>
                <a:schemeClr val="dk1"/>
              </a:solidFill>
            </a:endParaRPr>
          </a:p>
          <a:p>
            <a:pPr indent="-33253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b="1" lang="pt-BR" sz="6547">
                <a:solidFill>
                  <a:schemeClr val="dk1"/>
                </a:solidFill>
              </a:rPr>
              <a:t>LIMIT:</a:t>
            </a:r>
            <a:r>
              <a:rPr lang="pt-BR" sz="6547">
                <a:solidFill>
                  <a:schemeClr val="dk1"/>
                </a:solidFill>
              </a:rPr>
              <a:t> "Cortar o excesso." (Entrega só o topo).</a:t>
            </a:r>
            <a:endParaRPr sz="6547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