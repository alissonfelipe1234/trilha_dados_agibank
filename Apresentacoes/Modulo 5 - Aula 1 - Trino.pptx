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22AB3D-5A91-42CC-A670-23996EC3650B}">
  <a:tblStyle styleId="{1222AB3D-5A91-42CC-A670-23996EC365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7b055bb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87b055bb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87b055bb1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87b055bb1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7b055bb1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87b055bb1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87b055bb1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87b055bb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7f742a9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7f742a9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87b055bb1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87b055bb1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87b055bb1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87b055bb1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87b055bb1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87b055bb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87b055bb1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87b055bb1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87b055bb1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87b055bb1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87b055bb1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87b055bb1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87b055bb1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87b055bb1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87b055bb1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87b055bb1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87b055bb1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87b055bb1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2e0f79f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2e0f79f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"Na Minha Máquina Funciona"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072000" y="29926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Solomon Hykes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3689" y="1025826"/>
            <a:ext cx="5496627" cy="30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"Eu faço o código em Python 3.11 no Mac.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Mando pro servidor que roda Linux com Python 3.8.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O código quebra."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base</a:t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/>
              <a:t>M</a:t>
            </a:r>
            <a:r>
              <a:rPr b="1" lang="pt-BR" sz="2800"/>
              <a:t>áquina real</a:t>
            </a:r>
            <a:endParaRPr b="1"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800"/>
              <a:t>Sistema operacional</a:t>
            </a:r>
            <a:endParaRPr b="1"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800"/>
              <a:t>Máquina virtual</a:t>
            </a:r>
            <a:endParaRPr b="1" sz="2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800"/>
              <a:t>Docker</a:t>
            </a:r>
            <a:endParaRPr b="1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216625" y="724075"/>
            <a:ext cx="4045200" cy="264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Máquina Virtual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(VM)</a:t>
            </a:r>
            <a:endParaRPr/>
          </a:p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939500" y="724075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É como construir uma Casa Inteira para cada hóspede.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Tem fundação, encanamento, teto e mobília (Sistema Operacional completo).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Demora minutos para ligar e gasta muita memória (RAM).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Container (Docker)</a:t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como um Quarto de Hotel. O prédio (Sistema Operacional da sua máquina) já tem água, luz e segurança.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container só traz a "decoração" (o App e as bibliotecas). Liga em milissegundos.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2"/>
                </a:solidFill>
              </a:rPr>
              <a:t>O Dicionário do Docker</a:t>
            </a:r>
            <a:endParaRPr sz="3200"/>
          </a:p>
        </p:txBody>
      </p:sp>
      <p:graphicFrame>
        <p:nvGraphicFramePr>
          <p:cNvPr id="94" name="Google Shape;94;p19"/>
          <p:cNvGraphicFramePr/>
          <p:nvPr/>
        </p:nvGraphicFramePr>
        <p:xfrm>
          <a:off x="10354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{1222AB3D-5A91-42CC-A670-23996EC3650B}</a:tableStyleId>
              </a:tblPr>
              <a:tblGrid>
                <a:gridCol w="1821350"/>
                <a:gridCol w="5251850"/>
              </a:tblGrid>
              <a:tr h="5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1F1F1F"/>
                          </a:solidFill>
                        </a:rPr>
                        <a:t>Termo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solidFill>
                            <a:srgbClr val="1F1F1F"/>
                          </a:solidFill>
                        </a:rPr>
                        <a:t>Descrição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1F1F1F"/>
                          </a:solidFill>
                        </a:rPr>
                        <a:t>Image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1F1F1F"/>
                          </a:solidFill>
                        </a:rPr>
                        <a:t>Modelo estático da aplicação.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1F1F1F"/>
                          </a:solidFill>
                        </a:rPr>
                        <a:t>Container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1F1F1F"/>
                          </a:solidFill>
                        </a:rPr>
                        <a:t>Instância da imagem rodando.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1F1F1F"/>
                          </a:solidFill>
                        </a:rPr>
                        <a:t>Dockerfile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1F1F1F"/>
                          </a:solidFill>
                        </a:rPr>
                        <a:t>Instruções de construção. (customiza</a:t>
                      </a:r>
                      <a:r>
                        <a:rPr lang="pt-BR" sz="1500">
                          <a:solidFill>
                            <a:srgbClr val="1F1F1F"/>
                          </a:solidFill>
                        </a:rPr>
                        <a:t>ção)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1F1F1F"/>
                          </a:solidFill>
                        </a:rPr>
                        <a:t>Docker Hub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1F1F1F"/>
                          </a:solidFill>
                        </a:rPr>
                        <a:t>Biblioteca pública oficial.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1F1F1F"/>
                          </a:solidFill>
                        </a:rPr>
                        <a:t>Client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1F1F1F"/>
                          </a:solidFill>
                        </a:rPr>
                        <a:t>Interface de linha de comando.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1F1F1F"/>
                          </a:solidFill>
                        </a:rPr>
                        <a:t>Compose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rgbClr val="1F1F1F"/>
                          </a:solidFill>
                        </a:rPr>
                        <a:t>Orquestrador de múltiplos containers.</a:t>
                      </a:r>
                      <a:endParaRPr sz="15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490250" y="450150"/>
            <a:ext cx="8369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docker run hello-world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400"/>
              <a:t>Unable to find image... locally:</a:t>
            </a:r>
            <a:r>
              <a:rPr lang="pt-BR" sz="1400"/>
              <a:t> "Não tenho a receita aqui."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400"/>
              <a:t>Pulling from library...:</a:t>
            </a:r>
            <a:r>
              <a:rPr lang="pt-BR" sz="1400"/>
              <a:t> "Indo no Docker Hub baixar."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400"/>
              <a:t>Hello from Docker!:</a:t>
            </a:r>
            <a:r>
              <a:rPr lang="pt-BR" sz="1400"/>
              <a:t> "Rodei o container, mostrei a mensagem e morri (o processo acabou)."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490250" y="450150"/>
            <a:ext cx="8369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docker run --name meu-postgres -e POSTGRES_PASSWORD=senha123 -p 5432:5432 -d postgres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</a:t>
            </a:r>
            <a:r>
              <a:rPr lang="pt-BR" sz="1400"/>
              <a:t>: "Crie e inicie um container."</a:t>
            </a:r>
            <a:br>
              <a:rPr lang="pt-BR" sz="1400"/>
            </a:br>
            <a:endParaRPr sz="1400"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--name meu-postgres</a:t>
            </a:r>
            <a:r>
              <a:rPr lang="pt-BR" sz="1400"/>
              <a:t>: "O apelido dele para a gente não ter que decorar ID."</a:t>
            </a:r>
            <a:br>
              <a:rPr lang="pt-BR" sz="1400"/>
            </a:br>
            <a:endParaRPr sz="1400"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-e POSTGRES_PASSWORD=...</a:t>
            </a:r>
            <a:r>
              <a:rPr lang="pt-BR" sz="1400"/>
              <a:t>: "Variável de Ambiente. É como configurar o banco inicial."</a:t>
            </a:r>
            <a:br>
              <a:rPr lang="pt-BR" sz="1400"/>
            </a:br>
            <a:endParaRPr sz="1400"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-p 5432:5432</a:t>
            </a:r>
            <a:r>
              <a:rPr lang="pt-BR" sz="1400"/>
              <a:t>: "Conecte a porta 5432 do meu Windows/Mac na porta 5432 do Container."</a:t>
            </a:r>
            <a:br>
              <a:rPr lang="pt-BR" sz="1400"/>
            </a:br>
            <a:endParaRPr sz="1400"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-d</a:t>
            </a:r>
            <a:r>
              <a:rPr lang="pt-BR" sz="1400"/>
              <a:t>: "Rode em segundo plano. background."</a:t>
            </a:r>
            <a:br>
              <a:rPr lang="pt-BR" sz="1400"/>
            </a:br>
            <a:endParaRPr sz="1400"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postgres</a:t>
            </a:r>
            <a:r>
              <a:rPr lang="pt-BR" sz="1400"/>
              <a:t>: "O nome da imagem (a última versão)."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490250" y="450150"/>
            <a:ext cx="8369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800"/>
              <a:t>docker run --name meu-postgres -e POSTGRES_PASSWORD=senha123 -p 5432:5432 -d postgres</a:t>
            </a:r>
            <a:endParaRPr sz="3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90250" y="450150"/>
            <a:ext cx="8369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/>
              <a:t>docker ps</a:t>
            </a:r>
            <a:endParaRPr sz="3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Install Docker &amp; Pair coding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Outros comandos </a:t>
            </a:r>
            <a:r>
              <a:rPr lang="pt-BR"/>
              <a:t>úteis</a:t>
            </a:r>
            <a:endParaRPr/>
          </a:p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200"/>
              <a:t>docker exec -it meu-postgres bash (sh)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200"/>
              <a:t>docker exec -it meu-postgres psql -U postgres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200"/>
              <a:t>docker stop meu-postgres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/>
              <a:t>docker rm meu-postgres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Trino - O Maestro dos Dados</a:t>
            </a:r>
            <a:endParaRPr/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chemeClr val="dk1"/>
                </a:solidFill>
              </a:rPr>
              <a:t>Nas empresas, os dados estão espalhados: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Vendas estão no </a:t>
            </a:r>
            <a:r>
              <a:rPr b="1" lang="pt-BR" sz="2000">
                <a:solidFill>
                  <a:schemeClr val="dk1"/>
                </a:solidFill>
              </a:rPr>
              <a:t>SQL Server</a:t>
            </a:r>
            <a:r>
              <a:rPr lang="pt-BR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Logs do site estão no </a:t>
            </a:r>
            <a:r>
              <a:rPr b="1" lang="pt-BR" sz="2000">
                <a:solidFill>
                  <a:schemeClr val="dk1"/>
                </a:solidFill>
              </a:rPr>
              <a:t>S3 (Arquivos)</a:t>
            </a:r>
            <a:r>
              <a:rPr lang="pt-BR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pt-BR" sz="2000">
                <a:solidFill>
                  <a:schemeClr val="dk1"/>
                </a:solidFill>
              </a:rPr>
              <a:t>Marketing está no </a:t>
            </a:r>
            <a:r>
              <a:rPr b="1" lang="pt-BR" sz="2000">
                <a:solidFill>
                  <a:schemeClr val="dk1"/>
                </a:solidFill>
              </a:rPr>
              <a:t>Microsoft Excel</a:t>
            </a:r>
            <a:r>
              <a:rPr lang="pt-BR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A Dor:</a:t>
            </a:r>
            <a:r>
              <a:rPr lang="pt-BR" sz="2000">
                <a:solidFill>
                  <a:schemeClr val="dk1"/>
                </a:solidFill>
              </a:rPr>
              <a:t> Para fazer um relatório cruzando Vendas e Marketing, antigamente você precisava copiar tudo manualmente</a:t>
            </a:r>
            <a:endParaRPr sz="2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pt-BR"/>
              <a:t>O Trino (antigo PrestoSQL) não move o dado. Ele vai até o dado.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Pair Coding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4075" y="-371575"/>
            <a:ext cx="3425925" cy="551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