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CC5DE1D-A806-41CC-822A-1989A014537D}">
  <a:tblStyle styleId="{ECC5DE1D-A806-41CC-822A-1989A014537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dd22b4a29_0_15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dd22b4a29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71f73f52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71f73f52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71f73f52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71f73f52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6ddbc3224_0_12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6ddbc3224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71f73f528_0_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71f73f52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71f73f528_0_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b71f73f52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71f73f528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71f73f528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71f73f528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b71f73f52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71f73f528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b71f73f52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71f73f528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b71f73f528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71f73f528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71f73f528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71f73f528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b71f73f528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71f73f528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b71f73f528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71f73f528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b71f73f528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71f73f528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b71f73f528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71f73f528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b71f73f528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71f73f528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b71f73f528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71f73f528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b71f73f528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71f73f528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b71f73f528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b71f73f528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b71f73f528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71f73f528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b71f73f528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b71f73f528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b71f73f528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b71f73f528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b71f73f528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b71f73f528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b71f73f528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b71f73f528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b71f73f528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b71f73f528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b71f73f528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b71f73f528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b71f73f528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b71f73f528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b71f73f528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b71f73f528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b71f73f528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b71f73f528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b71f73f528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b71f73f528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b71f73f528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b71f73f528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b71f73f528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b71f73f528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b71f73f528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b71f73f528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b71f73f528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b71f73f528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b71f73f528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b71f73f528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b71f73f528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b71f73f528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b71f73f528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DDL (Data Definition Language)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DDL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>
                <a:solidFill>
                  <a:schemeClr val="dk1"/>
                </a:solidFill>
              </a:rPr>
              <a:t>Os Comandos Construtores, estes comandos definem a existência dos objetos.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265500" y="293875"/>
            <a:ext cx="880200" cy="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Teoria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CREATE DATABASE</a:t>
            </a:r>
            <a:endParaRPr/>
          </a:p>
        </p:txBody>
      </p:sp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Sintaxe</a:t>
            </a:r>
            <a:endParaRPr/>
          </a:p>
        </p:txBody>
      </p:sp>
      <p:sp>
        <p:nvSpPr>
          <p:cNvPr id="70" name="Google Shape;70;p1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100">
                <a:solidFill>
                  <a:schemeClr val="dk1"/>
                </a:solidFill>
              </a:rPr>
              <a:t>CREATE DATABASE nome;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CREATE DATABASE</a:t>
            </a:r>
            <a:endParaRPr/>
          </a:p>
        </p:txBody>
      </p:sp>
      <p:sp>
        <p:nvSpPr>
          <p:cNvPr id="76" name="Google Shape;76;p1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</a:t>
            </a:r>
            <a:endParaRPr/>
          </a:p>
        </p:txBody>
      </p:sp>
      <p:sp>
        <p:nvSpPr>
          <p:cNvPr id="77" name="Google Shape;77;p1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100">
                <a:solidFill>
                  <a:schemeClr val="dk1"/>
                </a:solidFill>
              </a:rPr>
              <a:t>CREATE DATABASE inss;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CREATE TABLE</a:t>
            </a:r>
            <a:endParaRPr/>
          </a:p>
        </p:txBody>
      </p:sp>
      <p:sp>
        <p:nvSpPr>
          <p:cNvPr id="83" name="Google Shape;83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É onde definimos o nome da tabela, as colunas e os tipos.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Sintaxe</a:t>
            </a:r>
            <a:endParaRPr/>
          </a:p>
        </p:txBody>
      </p:sp>
      <p:sp>
        <p:nvSpPr>
          <p:cNvPr id="84" name="Google Shape;84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>
                <a:solidFill>
                  <a:schemeClr val="dk1"/>
                </a:solidFill>
              </a:rPr>
              <a:t>CREATE TABLE nome_tabela (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>
                <a:solidFill>
                  <a:schemeClr val="dk1"/>
                </a:solidFill>
              </a:rPr>
              <a:t>    coluna1 tipo,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>
                <a:solidFill>
                  <a:schemeClr val="dk1"/>
                </a:solidFill>
              </a:rPr>
              <a:t>    coluna2 tipo,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>
                <a:solidFill>
                  <a:schemeClr val="dk1"/>
                </a:solidFill>
              </a:rPr>
              <a:t>    …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>
                <a:solidFill>
                  <a:schemeClr val="dk1"/>
                </a:solidFill>
              </a:rPr>
              <a:t>);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CREATE TABLE</a:t>
            </a:r>
            <a:endParaRPr/>
          </a:p>
        </p:txBody>
      </p:sp>
      <p:sp>
        <p:nvSpPr>
          <p:cNvPr id="90" name="Google Shape;90;p1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</a:t>
            </a:r>
            <a:endParaRPr/>
          </a:p>
        </p:txBody>
      </p:sp>
      <p:sp>
        <p:nvSpPr>
          <p:cNvPr id="91" name="Google Shape;91;p1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>
                <a:solidFill>
                  <a:schemeClr val="dk1"/>
                </a:solidFill>
              </a:rPr>
              <a:t>CREATE TABLE Persons (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>
                <a:solidFill>
                  <a:schemeClr val="dk1"/>
                </a:solidFill>
              </a:rPr>
              <a:t>    PersonID int,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>
                <a:solidFill>
                  <a:schemeClr val="dk1"/>
                </a:solidFill>
              </a:rPr>
              <a:t>    LastName varchar(255),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>
                <a:solidFill>
                  <a:schemeClr val="dk1"/>
                </a:solidFill>
              </a:rPr>
              <a:t>    FirstName varchar(255),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>
                <a:solidFill>
                  <a:schemeClr val="dk1"/>
                </a:solidFill>
              </a:rPr>
              <a:t>    Address varchar(255),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>
                <a:solidFill>
                  <a:schemeClr val="dk1"/>
                </a:solidFill>
              </a:rPr>
              <a:t>    City varchar(255)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>
                <a:solidFill>
                  <a:schemeClr val="dk1"/>
                </a:solidFill>
              </a:rPr>
              <a:t>);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CREATE TABLE</a:t>
            </a:r>
            <a:endParaRPr/>
          </a:p>
        </p:txBody>
      </p:sp>
      <p:sp>
        <p:nvSpPr>
          <p:cNvPr id="97" name="Google Shape;97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 outra tabela existente</a:t>
            </a:r>
            <a:endParaRPr/>
          </a:p>
        </p:txBody>
      </p:sp>
      <p:sp>
        <p:nvSpPr>
          <p:cNvPr id="98" name="Google Shape;98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>
                <a:solidFill>
                  <a:schemeClr val="dk1"/>
                </a:solidFill>
              </a:rPr>
              <a:t>CREATE TABLE novo_tab AS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>
                <a:solidFill>
                  <a:schemeClr val="dk1"/>
                </a:solidFill>
              </a:rPr>
              <a:t>SELECT column1, column2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>
                <a:solidFill>
                  <a:schemeClr val="dk1"/>
                </a:solidFill>
              </a:rPr>
              <a:t>FROM table_exist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>
                <a:solidFill>
                  <a:schemeClr val="dk1"/>
                </a:solidFill>
              </a:rPr>
              <a:t>WHERE id = 1;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red warning light with the word warning written below it (Fornecido por Tenor)"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13703" y="0"/>
            <a:ext cx="955770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ALTER TABLE</a:t>
            </a:r>
            <a:endParaRPr/>
          </a:p>
        </p:txBody>
      </p:sp>
      <p:sp>
        <p:nvSpPr>
          <p:cNvPr id="109" name="Google Shape;109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ADD - Sintaxe</a:t>
            </a:r>
            <a:endParaRPr/>
          </a:p>
        </p:txBody>
      </p:sp>
      <p:sp>
        <p:nvSpPr>
          <p:cNvPr id="110" name="Google Shape;110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>
                <a:solidFill>
                  <a:schemeClr val="dk1"/>
                </a:solidFill>
              </a:rPr>
              <a:t>ALTER TABLE nome_tabela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>
                <a:solidFill>
                  <a:schemeClr val="dk1"/>
                </a:solidFill>
              </a:rPr>
              <a:t>ADD coluna tipo;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ALTER TABLE</a:t>
            </a:r>
            <a:endParaRPr/>
          </a:p>
        </p:txBody>
      </p:sp>
      <p:sp>
        <p:nvSpPr>
          <p:cNvPr id="116" name="Google Shape;116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ADD</a:t>
            </a:r>
            <a:endParaRPr/>
          </a:p>
        </p:txBody>
      </p:sp>
      <p:sp>
        <p:nvSpPr>
          <p:cNvPr id="117" name="Google Shape;117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chemeClr val="dk1"/>
                </a:solidFill>
              </a:rPr>
              <a:t>ALTER TABLE Usuarios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2100">
                <a:solidFill>
                  <a:schemeClr val="dk1"/>
                </a:solidFill>
              </a:rPr>
              <a:t>ADD Email varchar(255);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ALTER TABLE</a:t>
            </a:r>
            <a:endParaRPr/>
          </a:p>
        </p:txBody>
      </p:sp>
      <p:sp>
        <p:nvSpPr>
          <p:cNvPr id="123" name="Google Shape;123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DROP - Sintaxe</a:t>
            </a:r>
            <a:endParaRPr/>
          </a:p>
        </p:txBody>
      </p:sp>
      <p:sp>
        <p:nvSpPr>
          <p:cNvPr id="124" name="Google Shape;124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chemeClr val="dk1"/>
                </a:solidFill>
              </a:rPr>
              <a:t>ALTER TABLE nome_tabela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2100">
                <a:solidFill>
                  <a:schemeClr val="dk1"/>
                </a:solidFill>
              </a:rPr>
              <a:t>DROP COLUMN coluna;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ALTER TABLE</a:t>
            </a:r>
            <a:endParaRPr/>
          </a:p>
        </p:txBody>
      </p:sp>
      <p:sp>
        <p:nvSpPr>
          <p:cNvPr id="130" name="Google Shape;130;p2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RENAME </a:t>
            </a:r>
            <a:endParaRPr/>
          </a:p>
        </p:txBody>
      </p:sp>
      <p:sp>
        <p:nvSpPr>
          <p:cNvPr id="131" name="Google Shape;131;p2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chemeClr val="dk1"/>
                </a:solidFill>
              </a:rPr>
              <a:t>ALTER TABLE nome_tabela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2100">
                <a:solidFill>
                  <a:schemeClr val="dk1"/>
                </a:solidFill>
              </a:rPr>
              <a:t>RENAME COLUMN antigo_nome to novo_nome;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ALTER TABLE</a:t>
            </a:r>
            <a:endParaRPr/>
          </a:p>
        </p:txBody>
      </p:sp>
      <p:sp>
        <p:nvSpPr>
          <p:cNvPr id="137" name="Google Shape;137;p2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ALTER COLUMN </a:t>
            </a:r>
            <a:endParaRPr/>
          </a:p>
        </p:txBody>
      </p:sp>
      <p:sp>
        <p:nvSpPr>
          <p:cNvPr id="138" name="Google Shape;138;p2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chemeClr val="dk1"/>
                </a:solidFill>
              </a:rPr>
              <a:t>ALTER TABLE nome_tabela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2100">
                <a:solidFill>
                  <a:schemeClr val="dk1"/>
                </a:solidFill>
              </a:rPr>
              <a:t>ALTER COLUMN coluna tipo;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ALTER TABLE</a:t>
            </a:r>
            <a:endParaRPr/>
          </a:p>
        </p:txBody>
      </p:sp>
      <p:sp>
        <p:nvSpPr>
          <p:cNvPr id="144" name="Google Shape;144;p2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chemeClr val="dk1"/>
                </a:solidFill>
              </a:rPr>
              <a:t>ALTER TABLE Pessoas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2100">
                <a:solidFill>
                  <a:schemeClr val="dk1"/>
                </a:solidFill>
              </a:rPr>
              <a:t>ALTER COLUMN cpf varchar(11);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145" name="Google Shape;145;p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ALTER COLUMN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980000"/>
                </a:solidFill>
              </a:rPr>
              <a:t>DROP</a:t>
            </a:r>
            <a:r>
              <a:rPr lang="pt-BR"/>
              <a:t> TABLE</a:t>
            </a:r>
            <a:endParaRPr/>
          </a:p>
        </p:txBody>
      </p:sp>
      <p:sp>
        <p:nvSpPr>
          <p:cNvPr id="151" name="Google Shape;151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100">
                <a:solidFill>
                  <a:schemeClr val="dk1"/>
                </a:solidFill>
              </a:rPr>
              <a:t>DROP TABLE nome_tabela;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152" name="Google Shape;152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Sintaxe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980000"/>
                </a:solidFill>
              </a:rPr>
              <a:t>TRUNCATE</a:t>
            </a:r>
            <a:r>
              <a:rPr lang="pt-BR"/>
              <a:t> TABLE</a:t>
            </a:r>
            <a:endParaRPr/>
          </a:p>
        </p:txBody>
      </p:sp>
      <p:sp>
        <p:nvSpPr>
          <p:cNvPr id="158" name="Google Shape;158;p2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100">
                <a:solidFill>
                  <a:schemeClr val="dk1"/>
                </a:solidFill>
              </a:rPr>
              <a:t>TRUNCATE TABLE nome_tabela;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159" name="Google Shape;159;p2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Sintaxe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4" name="Google Shape;164;p29"/>
          <p:cNvGraphicFramePr/>
          <p:nvPr/>
        </p:nvGraphicFramePr>
        <p:xfrm>
          <a:off x="471363" y="744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{ECC5DE1D-A806-41CC-822A-1989A014537D}</a:tableStyleId>
              </a:tblPr>
              <a:tblGrid>
                <a:gridCol w="1182700"/>
                <a:gridCol w="1079125"/>
                <a:gridCol w="3185550"/>
                <a:gridCol w="2753900"/>
              </a:tblGrid>
              <a:tr h="595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rgbClr val="1F1F1F"/>
                          </a:solidFill>
                        </a:rPr>
                        <a:t>Comando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rgbClr val="1F1F1F"/>
                          </a:solidFill>
                        </a:rPr>
                        <a:t>Analogia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rgbClr val="1F1F1F"/>
                          </a:solidFill>
                        </a:rPr>
                        <a:t>O que acontece no SGBD?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rgbClr val="1F1F1F"/>
                          </a:solidFill>
                        </a:rPr>
                        <a:t>Velocidade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926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rgbClr val="1F1F1F"/>
                          </a:solidFill>
                        </a:rPr>
                        <a:t>DROP TABLE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rgbClr val="1F1F1F"/>
                          </a:solidFill>
                        </a:rPr>
                        <a:t>Demolição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Remove os dados </a:t>
                      </a:r>
                      <a:r>
                        <a:rPr b="1" lang="pt-BR" sz="1100">
                          <a:solidFill>
                            <a:srgbClr val="1F1F1F"/>
                          </a:solidFill>
                        </a:rPr>
                        <a:t>e</a:t>
                      </a: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 a estrutura (Tabela deixa de existir). 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Libera o espaço em disco.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Rápido.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207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rgbClr val="1F1F1F"/>
                          </a:solidFill>
                        </a:rPr>
                        <a:t>TRUNCATE TABLE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rgbClr val="1F1F1F"/>
                          </a:solidFill>
                        </a:rPr>
                        <a:t>Limpeza Pesada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Remove </a:t>
                      </a:r>
                      <a:r>
                        <a:rPr b="1" lang="pt-BR" sz="1100">
                          <a:solidFill>
                            <a:srgbClr val="1F1F1F"/>
                          </a:solidFill>
                        </a:rPr>
                        <a:t>todos</a:t>
                      </a: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 os dados, mas mantém a estrutura (colunas/tipos). 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Reinicia contadores de ID.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rgbClr val="1F1F1F"/>
                          </a:solidFill>
                        </a:rPr>
                        <a:t>Ultra-Rápido</a:t>
                      </a: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. Ele deixa de alocar as páginas de dados sem ler linha por linha.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926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pt-BR" sz="1100">
                          <a:solidFill>
                            <a:srgbClr val="1F1F1F"/>
                          </a:solidFill>
                        </a:rPr>
                        <a:t>(DML) DELETE</a:t>
                      </a:r>
                      <a:endParaRPr i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pt-BR" sz="1100">
                          <a:solidFill>
                            <a:srgbClr val="1F1F1F"/>
                          </a:solidFill>
                        </a:rPr>
                        <a:t>Cirurgia</a:t>
                      </a:r>
                      <a:endParaRPr i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Remove linhas específicas. A estrutura fica.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Lento para apagar tudo, pois realiza opera</a:t>
                      </a: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ção</a:t>
                      </a: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 linha por linha 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Constraints</a:t>
            </a:r>
            <a:endParaRPr/>
          </a:p>
        </p:txBody>
      </p:sp>
      <p:sp>
        <p:nvSpPr>
          <p:cNvPr id="170" name="Google Shape;170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chemeClr val="dk1"/>
                </a:solidFill>
              </a:rPr>
              <a:t>Regras do banco de dados para garantir integridade dos dados.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2100">
                <a:solidFill>
                  <a:schemeClr val="dk1"/>
                </a:solidFill>
              </a:rPr>
              <a:t>Usadas para a limitar forma que a coluna pode ser usada.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171" name="Google Shape;171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Restri</a:t>
            </a:r>
            <a:r>
              <a:rPr lang="pt-BR"/>
              <a:t>ções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Constraints</a:t>
            </a:r>
            <a:endParaRPr/>
          </a:p>
        </p:txBody>
      </p:sp>
      <p:sp>
        <p:nvSpPr>
          <p:cNvPr id="177" name="Google Shape;177;p3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NOT NULL - Garante que a coluna não salve NUL</a:t>
            </a:r>
            <a:r>
              <a:rPr lang="pt-BR" sz="1600">
                <a:solidFill>
                  <a:schemeClr val="dk1"/>
                </a:solidFill>
              </a:rPr>
              <a:t>L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UNIQUE - Permite apenas valores únicos na coluna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PRIMARY KEY - Garante NOT NULL e UNIQUE para chave </a:t>
            </a:r>
            <a:r>
              <a:rPr lang="pt-BR" sz="1600">
                <a:solidFill>
                  <a:schemeClr val="dk1"/>
                </a:solidFill>
              </a:rPr>
              <a:t>primária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FOREIGN KEY - Previne que valores </a:t>
            </a:r>
            <a:r>
              <a:rPr lang="pt-BR" sz="1600">
                <a:solidFill>
                  <a:schemeClr val="dk1"/>
                </a:solidFill>
              </a:rPr>
              <a:t>estrangeiros em uso sejam deletados e garante máxima eficiência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78" name="Google Shape;178;p3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Restrições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Constraints</a:t>
            </a:r>
            <a:endParaRPr/>
          </a:p>
        </p:txBody>
      </p:sp>
      <p:sp>
        <p:nvSpPr>
          <p:cNvPr id="184" name="Google Shape;184;p3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CHECK - Garante que uma regra </a:t>
            </a:r>
            <a:r>
              <a:rPr lang="pt-BR" sz="1600">
                <a:solidFill>
                  <a:schemeClr val="dk1"/>
                </a:solidFill>
              </a:rPr>
              <a:t>específica</a:t>
            </a:r>
            <a:r>
              <a:rPr lang="pt-BR" sz="1600">
                <a:solidFill>
                  <a:schemeClr val="dk1"/>
                </a:solidFill>
              </a:rPr>
              <a:t> seja aplicada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DEFAULT - Define o valor padrão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CREATE INDEX - Usado para indexar valores e permitir máxima eficiência na consulta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85" name="Google Shape;185;p3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Restrições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NOT NULL</a:t>
            </a:r>
            <a:endParaRPr/>
          </a:p>
        </p:txBody>
      </p:sp>
      <p:sp>
        <p:nvSpPr>
          <p:cNvPr id="197" name="Google Shape;197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CREATE TABLE pessoas (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    ID int NOT NULL,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    nome varchar(255) NOT NULL,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    idade int,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);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98" name="Google Shape;198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uso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UNIQUE</a:t>
            </a:r>
            <a:endParaRPr/>
          </a:p>
        </p:txBody>
      </p:sp>
      <p:sp>
        <p:nvSpPr>
          <p:cNvPr id="204" name="Google Shape;204;p3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pt-BR" sz="1600">
                <a:solidFill>
                  <a:schemeClr val="dk1"/>
                </a:solidFill>
              </a:rPr>
              <a:t>CREATE TABLE pessoas (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    ID int NOT NULL UNIQUE,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pt-BR" sz="1600">
                <a:solidFill>
                  <a:schemeClr val="dk1"/>
                </a:solidFill>
              </a:rPr>
              <a:t>    CPF varchar(11) UNIQUE,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pt-BR" sz="1600">
                <a:solidFill>
                  <a:schemeClr val="dk1"/>
                </a:solidFill>
              </a:rPr>
              <a:t>    nome varchar(255) NOT NULL,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pt-BR" sz="1600">
                <a:solidFill>
                  <a:schemeClr val="dk1"/>
                </a:solidFill>
              </a:rPr>
              <a:t>    idade int,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);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05" name="Google Shape;205;p3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uso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PRIMARY KEY</a:t>
            </a:r>
            <a:endParaRPr/>
          </a:p>
        </p:txBody>
      </p:sp>
      <p:sp>
        <p:nvSpPr>
          <p:cNvPr id="211" name="Google Shape;211;p3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CREATE TABLE pessoas (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    ID int NOT NULL,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    CPF varchar(11) UNIQUE,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    nome varchar(255) NOT NULL,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    idade int,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    CONSTRAINT pk_pessoas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    PRIMARY KEY (ID,CPF)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);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12" name="Google Shape;212;p3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uso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FOREIGN KEY</a:t>
            </a:r>
            <a:endParaRPr/>
          </a:p>
        </p:txBody>
      </p:sp>
      <p:sp>
        <p:nvSpPr>
          <p:cNvPr id="218" name="Google Shape;218;p3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CREATE TABLE pedidos (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    id_pedido int NOT NULL,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    numero_cartao int NOT NULL,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    id_pessoa int,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    PRIMARY KEY (id_pedido),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    FOREIGN KEY (id_pessoa)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    REFERENCES pessoas(id)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);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19" name="Google Shape;219;p3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uso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CHECK</a:t>
            </a:r>
            <a:endParaRPr/>
          </a:p>
        </p:txBody>
      </p:sp>
      <p:sp>
        <p:nvSpPr>
          <p:cNvPr id="225" name="Google Shape;225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CREATE TABLE motoristas (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    ID int NOT NULL,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    nome varchar(255) NOT NULL,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    idade int,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    CHECK (idade&gt;=18)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);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26" name="Google Shape;226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uso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CHECK</a:t>
            </a:r>
            <a:endParaRPr/>
          </a:p>
        </p:txBody>
      </p:sp>
      <p:sp>
        <p:nvSpPr>
          <p:cNvPr id="232" name="Google Shape;232;p39"/>
          <p:cNvSpPr txBox="1"/>
          <p:nvPr>
            <p:ph idx="2" type="body"/>
          </p:nvPr>
        </p:nvSpPr>
        <p:spPr>
          <a:xfrm>
            <a:off x="4939500" y="724075"/>
            <a:ext cx="42045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CREATE TABLE motoristas (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    ID int NOT NULL,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    nome varchar(255) NOT NULL,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    idade int,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    carteira_valida bit,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    CHECK (</a:t>
            </a:r>
            <a:br>
              <a:rPr lang="pt-BR" sz="1600">
                <a:solidFill>
                  <a:schemeClr val="dk1"/>
                </a:solidFill>
              </a:rPr>
            </a:br>
            <a:r>
              <a:rPr lang="pt-BR" sz="1600">
                <a:solidFill>
                  <a:schemeClr val="dk1"/>
                </a:solidFill>
              </a:rPr>
              <a:t>      idade&gt;=18 </a:t>
            </a:r>
            <a:br>
              <a:rPr lang="pt-BR" sz="1600">
                <a:solidFill>
                  <a:schemeClr val="dk1"/>
                </a:solidFill>
              </a:rPr>
            </a:br>
            <a:r>
              <a:rPr lang="pt-BR" sz="1600">
                <a:solidFill>
                  <a:schemeClr val="dk1"/>
                </a:solidFill>
              </a:rPr>
              <a:t>      and carteira_valida = 1</a:t>
            </a:r>
            <a:br>
              <a:rPr lang="pt-BR" sz="1600">
                <a:solidFill>
                  <a:schemeClr val="dk1"/>
                </a:solidFill>
              </a:rPr>
            </a:br>
            <a:r>
              <a:rPr lang="pt-BR" sz="1600">
                <a:solidFill>
                  <a:schemeClr val="dk1"/>
                </a:solidFill>
              </a:rPr>
              <a:t>    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);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33" name="Google Shape;233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uso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DEFAULT</a:t>
            </a:r>
            <a:endParaRPr/>
          </a:p>
        </p:txBody>
      </p:sp>
      <p:sp>
        <p:nvSpPr>
          <p:cNvPr id="239" name="Google Shape;239;p4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CREATE TABLE produtos (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    id_produto int NOT NULL,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    pre</a:t>
            </a:r>
            <a:r>
              <a:rPr lang="pt-BR" sz="1600">
                <a:solidFill>
                  <a:schemeClr val="dk1"/>
                </a:solidFill>
              </a:rPr>
              <a:t>ço</a:t>
            </a:r>
            <a:r>
              <a:rPr lang="pt-BR" sz="1600">
                <a:solidFill>
                  <a:schemeClr val="dk1"/>
                </a:solidFill>
              </a:rPr>
              <a:t> decimal(10,2) DEFAULT 0.0,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    PRIMARY KEY (</a:t>
            </a:r>
            <a:r>
              <a:rPr lang="pt-BR" sz="1600">
                <a:solidFill>
                  <a:schemeClr val="dk1"/>
                </a:solidFill>
              </a:rPr>
              <a:t>id_produto</a:t>
            </a:r>
            <a:r>
              <a:rPr lang="pt-BR" sz="1600">
                <a:solidFill>
                  <a:schemeClr val="dk1"/>
                </a:solidFill>
              </a:rPr>
              <a:t>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    CHECK (pre</a:t>
            </a:r>
            <a:r>
              <a:rPr lang="pt-BR" sz="1600">
                <a:solidFill>
                  <a:schemeClr val="dk1"/>
                </a:solidFill>
              </a:rPr>
              <a:t>ço &gt;= 0)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);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40" name="Google Shape;240;p4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uso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INDEX</a:t>
            </a:r>
            <a:endParaRPr/>
          </a:p>
        </p:txBody>
      </p:sp>
      <p:sp>
        <p:nvSpPr>
          <p:cNvPr id="246" name="Google Shape;246;p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CREATE TABLE Pedidos (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    id_pedido int PRIMARY KEY,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    id_cliente int,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    data_pedido date,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    valor_total decimal(10, 2),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);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47" name="Google Shape;247;p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uso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INDEX</a:t>
            </a:r>
            <a:endParaRPr/>
          </a:p>
        </p:txBody>
      </p:sp>
      <p:sp>
        <p:nvSpPr>
          <p:cNvPr id="253" name="Google Shape;253;p4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CREATE INDEX idx_data_pedido </a:t>
            </a:r>
            <a:br>
              <a:rPr lang="pt-BR" sz="1600">
                <a:solidFill>
                  <a:schemeClr val="dk1"/>
                </a:solidFill>
              </a:rPr>
            </a:br>
            <a:r>
              <a:rPr lang="pt-BR" sz="1600">
                <a:solidFill>
                  <a:schemeClr val="dk1"/>
                </a:solidFill>
              </a:rPr>
              <a:t>ON Pedidos (data_pedido);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54" name="Google Shape;254;p4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uso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VIEWS</a:t>
            </a:r>
            <a:endParaRPr/>
          </a:p>
        </p:txBody>
      </p:sp>
      <p:sp>
        <p:nvSpPr>
          <p:cNvPr id="260" name="Google Shape;260;p4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Uma view é uma tabela virtual baseada no conjunto de resultados de uma instrução SQL.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Uma view contém linhas e colunas, assim como uma tabela real.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61" name="Google Shape;261;p4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defini</a:t>
            </a:r>
            <a:r>
              <a:rPr lang="pt-BR"/>
              <a:t>çao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VIEWS</a:t>
            </a:r>
            <a:endParaRPr/>
          </a:p>
        </p:txBody>
      </p:sp>
      <p:sp>
        <p:nvSpPr>
          <p:cNvPr id="267" name="Google Shape;267;p4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CREATE VIEW vw_pedidos_brasil AS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SELECT * FROM pedidos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WHERE pais = "Brasil</a:t>
            </a:r>
            <a:r>
              <a:rPr lang="pt-BR" sz="1600">
                <a:solidFill>
                  <a:schemeClr val="dk1"/>
                </a:solidFill>
              </a:rPr>
              <a:t>"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68" name="Google Shape;268;p4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definiçao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DML (Data Manipulation Language)</a:t>
            </a:r>
            <a:endParaRPr/>
          </a:p>
        </p:txBody>
      </p:sp>
      <p:sp>
        <p:nvSpPr>
          <p:cNvPr id="274" name="Google Shape;274;p4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INSERT</a:t>
            </a:r>
            <a:endParaRPr/>
          </a:p>
        </p:txBody>
      </p:sp>
      <p:sp>
        <p:nvSpPr>
          <p:cNvPr id="280" name="Google Shape;280;p4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4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INSERT INTO tabela</a:t>
            </a:r>
            <a:br>
              <a:rPr lang="pt-BR"/>
            </a:br>
            <a:r>
              <a:rPr lang="pt-BR"/>
              <a:t>(coluna1, coluna2, coluna3, ...)</a:t>
            </a:r>
            <a:br>
              <a:rPr lang="pt-BR"/>
            </a:br>
            <a:r>
              <a:rPr lang="pt-BR"/>
              <a:t>VALUES (valor1, valor2, valor3, ...);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UPDATE</a:t>
            </a:r>
            <a:endParaRPr/>
          </a:p>
        </p:txBody>
      </p:sp>
      <p:sp>
        <p:nvSpPr>
          <p:cNvPr id="287" name="Google Shape;287;p4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4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UPDATE </a:t>
            </a:r>
            <a:r>
              <a:rPr lang="pt-BR"/>
              <a:t>tabela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SET </a:t>
            </a:r>
            <a:r>
              <a:rPr lang="pt-BR"/>
              <a:t>coluna1</a:t>
            </a:r>
            <a:r>
              <a:rPr lang="pt-BR"/>
              <a:t> = </a:t>
            </a:r>
            <a:r>
              <a:rPr lang="pt-BR"/>
              <a:t>valor1</a:t>
            </a:r>
            <a:r>
              <a:rPr lang="pt-BR"/>
              <a:t>, ...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WHERE </a:t>
            </a:r>
            <a:r>
              <a:rPr lang="pt-BR"/>
              <a:t>condição</a:t>
            </a:r>
            <a:r>
              <a:rPr lang="pt-BR"/>
              <a:t>;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DELETE</a:t>
            </a:r>
            <a:endParaRPr/>
          </a:p>
        </p:txBody>
      </p:sp>
      <p:sp>
        <p:nvSpPr>
          <p:cNvPr id="294" name="Google Shape;294;p4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4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DELETE FROM tabela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WHERE condição;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BEGIN, COMMIT e ROLLBACK</a:t>
            </a:r>
            <a:endParaRPr/>
          </a:p>
        </p:txBody>
      </p:sp>
      <p:sp>
        <p:nvSpPr>
          <p:cNvPr id="301" name="Google Shape;301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</a:rPr>
              <a:t>O banco permite realizar operações por pacotes e similar a um Try Except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pt-BR" sz="1500">
                <a:solidFill>
                  <a:schemeClr val="dk1"/>
                </a:solidFill>
              </a:rPr>
              <a:t>BEGIN TRANSACTION:</a:t>
            </a:r>
            <a:br>
              <a:rPr b="1" lang="pt-BR" sz="1500">
                <a:solidFill>
                  <a:schemeClr val="dk1"/>
                </a:solidFill>
              </a:rPr>
            </a:br>
            <a:r>
              <a:rPr lang="pt-BR" sz="1500">
                <a:solidFill>
                  <a:schemeClr val="dk1"/>
                </a:solidFill>
              </a:rPr>
              <a:t> "Atenção banco, vou começar uma série de movimentos. Não grave nada definitivo ainda,  rascunho."</a:t>
            </a:r>
            <a:br>
              <a:rPr lang="pt-BR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i="1" lang="pt-BR" sz="1500">
                <a:solidFill>
                  <a:schemeClr val="dk1"/>
                </a:solidFill>
              </a:rPr>
              <a:t>(COMANDOS SQL)</a:t>
            </a:r>
            <a:r>
              <a:rPr lang="pt-BR" sz="1500">
                <a:solidFill>
                  <a:schemeClr val="dk1"/>
                </a:solidFill>
              </a:rPr>
              <a:t> O banco realiza as operações localmente, mas globalmente nada muda.</a:t>
            </a:r>
            <a:br>
              <a:rPr lang="pt-BR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pt-BR" sz="1500">
                <a:solidFill>
                  <a:schemeClr val="dk1"/>
                </a:solidFill>
              </a:rPr>
              <a:t>DECISÃO:</a:t>
            </a: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pt-BR" sz="1500">
                <a:solidFill>
                  <a:schemeClr val="dk1"/>
                </a:solidFill>
              </a:rPr>
              <a:t>Se tudo deu certo </a:t>
            </a:r>
            <a:r>
              <a:rPr b="1" lang="pt-BR" sz="1500">
                <a:solidFill>
                  <a:schemeClr val="dk1"/>
                </a:solidFill>
              </a:rPr>
              <a:t>COMMIT:</a:t>
            </a:r>
            <a:r>
              <a:rPr lang="pt-BR" sz="1500">
                <a:solidFill>
                  <a:schemeClr val="dk1"/>
                </a:solidFill>
              </a:rPr>
              <a:t> "Pode gravar. Torne oficial."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pt-BR" sz="1500">
                <a:solidFill>
                  <a:schemeClr val="dk1"/>
                </a:solidFill>
              </a:rPr>
              <a:t>Se deu erro no meio </a:t>
            </a:r>
            <a:r>
              <a:rPr b="1" lang="pt-BR" sz="1500">
                <a:solidFill>
                  <a:schemeClr val="dk1"/>
                </a:solidFill>
              </a:rPr>
              <a:t>ROLLBACK:</a:t>
            </a:r>
            <a:r>
              <a:rPr lang="pt-BR" sz="1500">
                <a:solidFill>
                  <a:schemeClr val="dk1"/>
                </a:solidFill>
              </a:rPr>
              <a:t> "Cancelar! Desfaça tudo o que fiz desde o BEGIN." </a:t>
            </a:r>
            <a:endParaRPr sz="22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