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9DE02E-EB53-40D9-B21C-3A9408E5DDB3}">
  <a:tblStyle styleId="{629DE02E-EB53-40D9-B21C-3A9408E5DDB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dd22b4a29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dd22b4a2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6ddbc322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6ddbc322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6ddbc322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6ddbc322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6ddbc3224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6ddbc322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6ddbc3224_0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6ddbc322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ddbc3224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ddbc322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6ddbc3224_0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6ddbc322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6ddbc3224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6ddbc32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6ddbc3224_0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6ddbc322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ddbc3224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ddbc3224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6ddbc322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6ddbc322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6ddbc3224_0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6ddbc322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6ddbc3224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6ddbc322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6ddbc3224_0_1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6ddbc322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dd22b4a29_0_2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dd22b4a29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dd22b4a29_0_2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dd22b4a2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6ddbc3224_0_1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6ddbc322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hyperlink" Target="https://www.seas.upenn.edu/~zives/03f/cis550/codd.pdf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Forma normal</a:t>
            </a:r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781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SGBD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Normaliza</a:t>
            </a:r>
            <a:r>
              <a:rPr lang="pt-BR"/>
              <a:t>ção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</a:t>
            </a:r>
            <a:r>
              <a:rPr lang="pt-BR"/>
              <a:t>é?</a:t>
            </a:r>
            <a:endParaRPr/>
          </a:p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Em SGDB a normaliza</a:t>
            </a:r>
            <a:r>
              <a:rPr lang="pt-BR"/>
              <a:t>ção é processo de organização e estruturação de dados.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Realizamos-a para eliminar anomalias de dados, como redundância.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Porque normalizar?</a:t>
            </a:r>
            <a:endParaRPr/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4939500" y="724075"/>
            <a:ext cx="3949200" cy="38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Reduz a </a:t>
            </a:r>
            <a:r>
              <a:rPr b="1" lang="pt-BR"/>
              <a:t>redundância</a:t>
            </a:r>
            <a:r>
              <a:rPr lang="pt-BR"/>
              <a:t>: Redundância é quando a mesma informação é armazenada várias vezes.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Melhora o </a:t>
            </a:r>
            <a:r>
              <a:rPr b="1" lang="pt-BR"/>
              <a:t>desempenho</a:t>
            </a:r>
            <a:r>
              <a:rPr lang="pt-BR"/>
              <a:t> da consulta: Você pode executar consultas mais rapidamente.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Minimiza as </a:t>
            </a:r>
            <a:r>
              <a:rPr b="1" lang="pt-BR"/>
              <a:t>anomalias</a:t>
            </a:r>
            <a:r>
              <a:rPr lang="pt-BR"/>
              <a:t> de atualização: Atualizar facilmente os dados sem afetar outros registros.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Melhora a </a:t>
            </a:r>
            <a:r>
              <a:rPr b="1" lang="pt-BR"/>
              <a:t>integridad</a:t>
            </a:r>
            <a:r>
              <a:rPr b="1" lang="pt-BR"/>
              <a:t>e</a:t>
            </a:r>
            <a:r>
              <a:rPr lang="pt-BR"/>
              <a:t>: Garante que os dados permaneçam consistentes e precisos.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Tabela Totalmente Desnormalizada</a:t>
            </a:r>
            <a:endParaRPr/>
          </a:p>
        </p:txBody>
      </p:sp>
      <p:graphicFrame>
        <p:nvGraphicFramePr>
          <p:cNvPr id="77" name="Google Shape;77;p16"/>
          <p:cNvGraphicFramePr/>
          <p:nvPr/>
        </p:nvGraphicFramePr>
        <p:xfrm>
          <a:off x="817775" y="188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{629DE02E-EB53-40D9-B21C-3A9408E5DDB3}</a:tableStyleId>
              </a:tblPr>
              <a:tblGrid>
                <a:gridCol w="761575"/>
                <a:gridCol w="1973650"/>
                <a:gridCol w="1297900"/>
                <a:gridCol w="1083350"/>
                <a:gridCol w="1726950"/>
                <a:gridCol w="6650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Aluno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Telefones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Curso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Professor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Email_Prof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Nota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Ana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9999-1111, 8888-2222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Inglês Básico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Mr. Smith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smith@school.com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9.0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Bruno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9999-3333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Inglês Básico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Mr. Smith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smith@school.com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7.5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Ana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9999-1111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Espanhol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Juan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juan@school.com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10.0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 1NF</a:t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Atomicidade</a:t>
            </a:r>
            <a:endParaRPr/>
          </a:p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T</a:t>
            </a:r>
            <a:r>
              <a:rPr lang="pt-BR"/>
              <a:t>odos os atributos do modelo devem ser atômicos, indivisíveis.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 1NF</a:t>
            </a:r>
            <a:endParaRPr/>
          </a:p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Atomicidade</a:t>
            </a:r>
            <a:endParaRPr/>
          </a:p>
        </p:txBody>
      </p:sp>
      <p:sp>
        <p:nvSpPr>
          <p:cNvPr id="92" name="Google Shape;92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O Problema:</a:t>
            </a:r>
            <a:r>
              <a:rPr lang="pt-BR"/>
              <a:t> Olhe para a Ana. Ela tem dois telefones na mesma célula (9999-1111, 8888-2222).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Como faço um SELECT WHERE telefone = '8888-2222'? O banco não acha.</a:t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 2NF</a:t>
            </a:r>
            <a:endParaRPr/>
          </a:p>
        </p:txBody>
      </p:sp>
      <p:sp>
        <p:nvSpPr>
          <p:cNvPr id="99" name="Google Shape;99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Dependência Funcional</a:t>
            </a:r>
            <a:endParaRPr/>
          </a:p>
        </p:txBody>
      </p:sp>
      <p:sp>
        <p:nvSpPr>
          <p:cNvPr id="100" name="Google Shape;100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</a:t>
            </a:r>
            <a:r>
              <a:rPr lang="pt-BR"/>
              <a:t>s atributos que não são chave dependem unicamente da chave primária da tabela.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 2NF</a:t>
            </a:r>
            <a:endParaRPr/>
          </a:p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Dependência Funcional</a:t>
            </a:r>
            <a:endParaRPr/>
          </a:p>
        </p:txBody>
      </p:sp>
      <p:sp>
        <p:nvSpPr>
          <p:cNvPr id="108" name="Google Shape;108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O Problema:</a:t>
            </a:r>
            <a:r>
              <a:rPr lang="pt-BR"/>
              <a:t> Nossa chave primária combinada é Aluno + Curso (pois a Ana pode fazer Inglês e Espanhol).</a:t>
            </a:r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 3NF</a:t>
            </a:r>
            <a:endParaRPr/>
          </a:p>
        </p:txBody>
      </p:sp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Os atributos que não são chave devem ser independentes entre si e dependentes única e exclusivamente da chave primária da tabela. Esse nível de normalização se baseia em 2NF</a:t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 3NF</a:t>
            </a:r>
            <a:endParaRPr/>
          </a:p>
        </p:txBody>
      </p:sp>
      <p:sp>
        <p:nvSpPr>
          <p:cNvPr id="123" name="Google Shape;12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124" name="Google Shape;124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O Problema:</a:t>
            </a:r>
            <a:r>
              <a:rPr lang="pt-BR"/>
              <a:t> Olhe para a tabela de Cursos que criamos: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[Curso | Professor | Email_Prof].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 </a:t>
            </a:r>
            <a:r>
              <a:rPr lang="pt-BR"/>
              <a:t>Email_Prof depende do Curso? 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Resumo das 3 principais Formas Normais</a:t>
            </a:r>
            <a:endParaRPr/>
          </a:p>
        </p:txBody>
      </p:sp>
      <p:graphicFrame>
        <p:nvGraphicFramePr>
          <p:cNvPr id="131" name="Google Shape;131;p23"/>
          <p:cNvGraphicFramePr/>
          <p:nvPr/>
        </p:nvGraphicFramePr>
        <p:xfrm>
          <a:off x="380100" y="120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{629DE02E-EB53-40D9-B21C-3A9408E5DDB3}</a:tableStyleId>
              </a:tblPr>
              <a:tblGrid>
                <a:gridCol w="1447300"/>
                <a:gridCol w="1429650"/>
                <a:gridCol w="2444550"/>
                <a:gridCol w="3062300"/>
              </a:tblGrid>
              <a:tr h="85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Regra (Forma Normal)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O Conceito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O Erro Comum (O que evitar)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A Solução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85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1FN: Atomicidade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pt-BR" sz="1100">
                          <a:solidFill>
                            <a:srgbClr val="1F1F1F"/>
                          </a:solidFill>
                        </a:rPr>
                        <a:t>"Uma célula, um valor."</a:t>
                      </a:r>
                      <a:endParaRPr i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Colocar listas numa célula (Ex: </a:t>
                      </a:r>
                      <a:r>
                        <a:rPr lang="pt-BR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119999-8888, 119777-6666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Criar novas linhas ou uma tabela separada para os telefones.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15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2FN: Tema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pt-BR" sz="1100">
                          <a:solidFill>
                            <a:srgbClr val="1F1F1F"/>
                          </a:solidFill>
                        </a:rPr>
                        <a:t>"Cada um no seu espa</a:t>
                      </a:r>
                      <a:r>
                        <a:rPr i="1" lang="pt-BR" sz="1100">
                          <a:solidFill>
                            <a:srgbClr val="1F1F1F"/>
                          </a:solidFill>
                        </a:rPr>
                        <a:t>ço</a:t>
                      </a:r>
                      <a:r>
                        <a:rPr i="1" lang="pt-BR" sz="1100">
                          <a:solidFill>
                            <a:srgbClr val="1F1F1F"/>
                          </a:solidFill>
                        </a:rPr>
                        <a:t>."</a:t>
                      </a:r>
                      <a:endParaRPr i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Tabela de Vendas contendo o Endereço do Cliente.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Na tabela Vendas, use apenas o </a:t>
                      </a:r>
                      <a:r>
                        <a:rPr lang="pt-BR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ID_Cliente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. O endereço fica na tabela Clientes.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5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1F1F1F"/>
                          </a:solidFill>
                        </a:rPr>
                        <a:t>3FN: Independência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pt-BR" sz="1100">
                          <a:solidFill>
                            <a:srgbClr val="1F1F1F"/>
                          </a:solidFill>
                        </a:rPr>
                        <a:t>"Sem informa</a:t>
                      </a:r>
                      <a:r>
                        <a:rPr i="1" lang="pt-BR" sz="1100">
                          <a:solidFill>
                            <a:srgbClr val="1F1F1F"/>
                          </a:solidFill>
                        </a:rPr>
                        <a:t>ções dependentes erradas</a:t>
                      </a:r>
                      <a:r>
                        <a:rPr i="1" lang="pt-BR" sz="1100">
                          <a:solidFill>
                            <a:srgbClr val="1F1F1F"/>
                          </a:solidFill>
                        </a:rPr>
                        <a:t>."</a:t>
                      </a:r>
                      <a:endParaRPr i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Salvar o E-mail do Professor na tabela de Cursos ou Matrículas.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O e-mail depende do Professor, não do Curso. Crie uma tabela </a:t>
                      </a:r>
                      <a:r>
                        <a:rPr lang="pt-BR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Professores</a:t>
                      </a:r>
                      <a:r>
                        <a:rPr lang="pt-BR" sz="1100">
                          <a:solidFill>
                            <a:srgbClr val="1F1F1F"/>
                          </a:solidFill>
                        </a:rPr>
                        <a:t>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5902"/>
            <a:ext cx="9144000" cy="4991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90723" l="0" r="96300" t="0"/>
          <a:stretch/>
        </p:blipFill>
        <p:spPr>
          <a:xfrm>
            <a:off x="8627325" y="4510377"/>
            <a:ext cx="338250" cy="46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 </a:t>
            </a:r>
            <a:r>
              <a:rPr lang="pt-BR"/>
              <a:t>Boyce-Codd</a:t>
            </a:r>
            <a:endParaRPr/>
          </a:p>
        </p:txBody>
      </p:sp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146" name="Google Shape;146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É uma versão mais rígida de 3NF. Isso garante que todo determinante (</a:t>
            </a:r>
            <a:r>
              <a:rPr lang="pt-BR"/>
              <a:t>um conjunto de atributos que identificam exclusivamente uma </a:t>
            </a:r>
            <a:r>
              <a:rPr lang="pt-BR"/>
              <a:t>linha) em uma tabela seja uma chave candidata.</a:t>
            </a:r>
            <a:endParaRPr/>
          </a:p>
        </p:txBody>
      </p:sp>
      <p:sp>
        <p:nvSpPr>
          <p:cNvPr id="147" name="Google Shape;147;p25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 4NF</a:t>
            </a:r>
            <a:endParaRPr/>
          </a:p>
        </p:txBody>
      </p:sp>
      <p:sp>
        <p:nvSpPr>
          <p:cNvPr id="153" name="Google Shape;153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não se deve possuir dependências multivaloradas.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 Regra: Uma tabela não pode conter duas ou mais listas de dados que não têm relação entre si (são independentes), mas dependem da mesma chave</a:t>
            </a:r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 5NF</a:t>
            </a:r>
            <a:endParaRPr/>
          </a:p>
        </p:txBody>
      </p:sp>
      <p:sp>
        <p:nvSpPr>
          <p:cNvPr id="161" name="Google Shape;161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é a forma mais complexa de normalização que elimina as dependências de junção.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 Regra: Garante que, se você quebrar uma tabela em várias e depois juntá-las (JOIN), você não vai criar informações falsas (registros fantasmas).</a:t>
            </a:r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 title="Captura de Tela 2026-01-12 às 10.47.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125" y="606250"/>
            <a:ext cx="5529726" cy="5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>
            <a:off x="7734800" y="4547025"/>
            <a:ext cx="122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artigo</a:t>
            </a:r>
            <a:endParaRPr/>
          </a:p>
        </p:txBody>
      </p:sp>
      <p:sp>
        <p:nvSpPr>
          <p:cNvPr id="170" name="Google Shape;170;p28"/>
          <p:cNvSpPr txBox="1"/>
          <p:nvPr/>
        </p:nvSpPr>
        <p:spPr>
          <a:xfrm>
            <a:off x="1807125" y="2060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Edgar Frank Codd</a:t>
            </a:r>
            <a:endParaRPr/>
          </a:p>
        </p:txBody>
      </p:sp>
      <p:sp>
        <p:nvSpPr>
          <p:cNvPr id="171" name="Google Shape;171;p28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</a:t>
            </a:r>
            <a:endParaRPr/>
          </a:p>
        </p:txBody>
      </p:sp>
      <p:sp>
        <p:nvSpPr>
          <p:cNvPr id="177" name="Google Shape;177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</a:t>
            </a:r>
            <a:endParaRPr/>
          </a:p>
        </p:txBody>
      </p:sp>
      <p:sp>
        <p:nvSpPr>
          <p:cNvPr id="178" name="Google Shape;178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SELECT (coluna)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FROM (tabela)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WHERE (condição)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ORDER BY (coluna)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LIMIT (inteiro)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Comandos</a:t>
            </a:r>
            <a:endParaRPr/>
          </a:p>
        </p:txBody>
      </p:sp>
      <p:sp>
        <p:nvSpPr>
          <p:cNvPr id="184" name="Google Shape;184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sql</a:t>
            </a:r>
            <a:endParaRPr/>
          </a:p>
        </p:txBody>
      </p:sp>
      <p:sp>
        <p:nvSpPr>
          <p:cNvPr id="185" name="Google Shape;185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Coluna = "Nome"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Coluna LIKE "No%"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Coluna BETWEEN 1 AND 10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Coluna IN (item1, item2)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Pair coding</a:t>
            </a:r>
            <a:endParaRPr/>
          </a:p>
        </p:txBody>
      </p:sp>
      <p:sp>
        <p:nvSpPr>
          <p:cNvPr id="191" name="Google Shape;191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